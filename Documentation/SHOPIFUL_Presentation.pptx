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55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B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SHOPIFUL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E-Commerce Intelligence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926080" cy="0"/>
          </a:xfrm>
          <a:prstGeom prst="line">
            <a:avLst/>
          </a:prstGeom>
          <a:noFill/>
          <a:ln w="25400">
            <a:solidFill>
              <a:srgbClr val="5FB4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E-Commerce — Online Retail &amp; Enterprise Business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MySQL  |  SQL  |  Power BI  |  DAX  |  Power Query  |  Excel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Sathya Sri M</a:t>
            </a:r>
          </a:p>
          <a:p>
            <a:pPr marL="0" indent="0">
              <a:buNone/>
            </a:pPr>
            <a:r>
              <a:rPr lang="en-US" sz="3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AF05247775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04058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is a data analytics and business intelligence project designed to analyze the sales, customer, product, order, payment, return, delivery, review, and warehouse performance of an e-commerce business.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04058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MySQL and SQL for database creation, data storage, validation, and analysis, and Microsoft Power BI for interactive dashboards and business intelligence reporting.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104058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integrates customers, products, categories, orders, payments, returns, deliveries, reviews, and warehouse operations to identify sales trends, customer behaviour, product performance, operational issues, payment patterns, and inventory-related insights.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 </a:t>
            </a:r>
            <a:r>
              <a:rPr lang="en-US" sz="16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— Online Retail &amp; Enterprise Business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Areas Covered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41985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0040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revenue performance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7304" y="320040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4464" y="341985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0224" y="320040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and order frequency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320040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3128" y="341985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6" name="Text 14"/>
          <p:cNvSpPr/>
          <p:nvPr/>
        </p:nvSpPr>
        <p:spPr>
          <a:xfrm>
            <a:off x="8628888" y="320040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category performance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28853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06908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analysis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7304" y="406908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4464" y="428853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0224" y="406908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25968" y="406908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3128" y="428853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5" name="Text 23"/>
          <p:cNvSpPr/>
          <p:nvPr/>
        </p:nvSpPr>
        <p:spPr>
          <a:xfrm>
            <a:off x="8628888" y="406908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delivery performance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15721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93776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and ratings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37304" y="493776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74464" y="515721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0224" y="493776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and inventory operations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25968" y="4937760"/>
            <a:ext cx="3514344" cy="713232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/>
        </p:spPr>
      </p:sp>
      <p:sp>
        <p:nvSpPr>
          <p:cNvPr id="33" name="Shape 31"/>
          <p:cNvSpPr/>
          <p:nvPr/>
        </p:nvSpPr>
        <p:spPr>
          <a:xfrm>
            <a:off x="8263128" y="5157216"/>
            <a:ext cx="274320" cy="27432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28888" y="4937760"/>
            <a:ext cx="29199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business performance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6295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relational database for e-commerce operations.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customer, product, category, order, payment, return, delivery, review, and warehouse data.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sales, orders, revenue, discounts, and product performance.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 and categories.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purchasing behaviour and geographical distribution.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77356" y="1783080"/>
            <a:ext cx="536295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payment methods and payment revenue.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return patterns and delivery performance.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warehouse capacity and stock distribution.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dashboards for management reporting.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source, inspection and initial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creation and data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validation, querying and business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 and transformation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Power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and calculated measure creation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documentation and 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&amp; Source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an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E-Commerce Dataset</a:t>
            </a: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containing multiple related tables. The dataset was sourced and initially inspected and prepared in Microsoft Excel.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 and geographical information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68796" y="2514600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368796" y="2514600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2514600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details, pricing and product information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64408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64408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information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68796" y="3264408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8796" y="3264408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97396" y="3264408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order transaction 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14216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14216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products and quantities within orders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68796" y="4014216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8796" y="4014216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4014216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and payment transaction information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764024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64024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status and return-related information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68796" y="4764024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68796" y="4764024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597396" y="4764024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delivery partner information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513832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513832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513832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product review information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68796" y="5513832"/>
            <a:ext cx="5271516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68796" y="5513832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597396" y="5513832"/>
            <a:ext cx="49514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</a:t>
            </a: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capacity, stock and location information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Database &amp; Tables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follows a relational structure where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 as the main transaction areas, connected with customer, product, category, payment, return, delivery, review, and warehouse information.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was used for: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7304" y="301752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7304" y="301752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5968" y="301752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5968" y="301752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7304" y="379476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7304" y="379476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Record-count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5968" y="379476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5968" y="379476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value checking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7304" y="457200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7304" y="457200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validation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5968" y="4572000"/>
            <a:ext cx="3514344" cy="621792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 w="9525">
            <a:solidFill>
              <a:srgbClr val="E1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5968" y="4572000"/>
            <a:ext cx="3514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Cross-table business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MySQL database was built and validated with SQL, it was connected to Microsoft Power BI to enable interactive dashboard development and business intelligence reporting.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82396" y="283464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882396" y="28346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(Validated via SQL)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1628" y="3337560"/>
            <a:ext cx="676656" cy="365760"/>
          </a:xfrm>
          <a:prstGeom prst="rightArrow">
            <a:avLst/>
          </a:prstGeom>
          <a:solidFill>
            <a:srgbClr val="5FB49C"/>
          </a:solidFill>
          <a:ln/>
        </p:spPr>
      </p:sp>
      <p:sp>
        <p:nvSpPr>
          <p:cNvPr id="9" name="Shape 7"/>
          <p:cNvSpPr/>
          <p:nvPr/>
        </p:nvSpPr>
        <p:spPr>
          <a:xfrm>
            <a:off x="4631436" y="283464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28346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0668" y="3337560"/>
            <a:ext cx="676656" cy="365760"/>
          </a:xfrm>
          <a:prstGeom prst="rightArrow">
            <a:avLst/>
          </a:prstGeom>
          <a:solidFill>
            <a:srgbClr val="5FB49C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0476" y="283464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80476" y="28346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 to ETL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Power BI connection, data moved through the ETL (Extract, Transform, Load) stage using Power Query — transforming raw MySQL data and preparing it for data modelling and relationships within Power BI.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99232" y="3520440"/>
            <a:ext cx="265176" cy="274320"/>
          </a:xfrm>
          <a:prstGeom prst="rightArrow">
            <a:avLst/>
          </a:prstGeom>
          <a:solidFill>
            <a:srgbClr val="5FB49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301752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42432" y="3520440"/>
            <a:ext cx="265176" cy="274320"/>
          </a:xfrm>
          <a:prstGeom prst="rightArrow">
            <a:avLst/>
          </a:prstGeom>
          <a:solidFill>
            <a:srgbClr val="5FB49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01752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85632" y="3520440"/>
            <a:ext cx="265176" cy="274320"/>
          </a:xfrm>
          <a:prstGeom prst="rightArrow">
            <a:avLst/>
          </a:prstGeom>
          <a:solidFill>
            <a:srgbClr val="5FB49C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3017520"/>
            <a:ext cx="24231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validation was carried out as part of the project workflow, using Power Query for cleaning and transformation and SQL for record-count validation, duplicate checking, and NULL/value checking.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271516" cy="804672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48143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68796" y="2880360"/>
            <a:ext cx="5271516" cy="804672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6597396" y="2880360"/>
            <a:ext cx="48143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Record-Count Validation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expected row totals per table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71516" cy="804672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0480"/>
            <a:ext cx="48143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Checking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removes duplicate records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68796" y="3840480"/>
            <a:ext cx="5271516" cy="804672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3840480"/>
            <a:ext cx="48143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Value Checking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data completeness and validity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 — Key KPIs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was used for KPI and calculated-measure creation, powering the following key performance indicators across the dashboards.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overall revenue generated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60236" y="239572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9" name="Text 7"/>
          <p:cNvSpPr/>
          <p:nvPr/>
        </p:nvSpPr>
        <p:spPr>
          <a:xfrm>
            <a:off x="6963156" y="228600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order volume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7296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6324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customer 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60236" y="317296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3" name="Text 11"/>
          <p:cNvSpPr/>
          <p:nvPr/>
        </p:nvSpPr>
        <p:spPr>
          <a:xfrm>
            <a:off x="6963156" y="306324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product sales volume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84048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average revenue per order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0236" y="395020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7" name="Text 15"/>
          <p:cNvSpPr/>
          <p:nvPr/>
        </p:nvSpPr>
        <p:spPr>
          <a:xfrm>
            <a:off x="6963156" y="384048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overall profitability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2744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61772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return frequency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60236" y="472744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1" name="Text 19"/>
          <p:cNvSpPr/>
          <p:nvPr/>
        </p:nvSpPr>
        <p:spPr>
          <a:xfrm>
            <a:off x="6963156" y="461772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payment revenue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0468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39496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available warehouse capacity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60236" y="5504688"/>
            <a:ext cx="365760" cy="365760"/>
          </a:xfrm>
          <a:prstGeom prst="ellipse">
            <a:avLst/>
          </a:prstGeom>
          <a:solidFill>
            <a:srgbClr val="5FB49C"/>
          </a:solidFill>
          <a:ln/>
        </p:spPr>
      </p:sp>
      <p:sp>
        <p:nvSpPr>
          <p:cNvPr id="25" name="Text 23"/>
          <p:cNvSpPr/>
          <p:nvPr/>
        </p:nvSpPr>
        <p:spPr>
          <a:xfrm>
            <a:off x="6963156" y="5394960"/>
            <a:ext cx="4677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Quantity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inventory availability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 — Pages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6771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024" y="182880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65904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5904" y="226771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17408" y="182880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400288" y="19385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0288" y="226771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72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50215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3024" y="306324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65904" y="3172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5904" y="350215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Delivery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17408" y="306324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00288" y="31729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0288" y="350215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Revenue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3422904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07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736592"/>
            <a:ext cx="30571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Inventory 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1 — Executive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State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Sales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2 — Customer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by State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Status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Frequency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Customer Distribution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3 — Product Performance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 Trend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 vs Sales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 Distribution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/ Units Sold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4 — Sales &amp; Orders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State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Order Status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by Brand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by Rating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 by 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5 — Returns &amp; Delivery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Return Status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Returns by Reason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by 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6 — Payment &amp; Revenue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03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by Method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by Year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Amount by Category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850725"/>
            <a:ext cx="7214616" cy="4162390"/>
          </a:xfrm>
          <a:prstGeom prst="roundRect">
            <a:avLst>
              <a:gd name="adj" fmla="val 1318"/>
            </a:avLst>
          </a:prstGeom>
          <a:solidFill>
            <a:srgbClr val="F4F7F9"/>
          </a:solidFill>
          <a:ln w="12700">
            <a:solidFill>
              <a:srgbClr val="E1E6EA"/>
            </a:solidFill>
            <a:prstDash val="solid"/>
          </a:ln>
        </p:spPr>
      </p:sp>
      <p:pic>
        <p:nvPicPr>
          <p:cNvPr id="9" name="Image 0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3877"/>
            <a:ext cx="7068312" cy="40160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/ VISUALS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34472" y="411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7 — Warehouse &amp; Inventory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109167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Capacity Utilization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Distribution by Warehouse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Quantity by Warehouse ID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State 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E6DE3A-6490-A694-FA60-C301F05B6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218" y="1481328"/>
            <a:ext cx="7772401" cy="45951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dashboard page is built around the core business dimensions used across the visuals, enabling users to filter and slice results dynamically.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7304" y="246888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7304" y="246888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5968" y="246888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5968" y="246888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7304" y="324612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7304" y="324612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5968" y="324612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5968" y="324612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Status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7304" y="402336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7304" y="402336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5968" y="4023360"/>
            <a:ext cx="3514344" cy="594360"/>
          </a:xfrm>
          <a:prstGeom prst="roundRect">
            <a:avLst>
              <a:gd name="adj" fmla="val 49231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25968" y="4023360"/>
            <a:ext cx="3514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 (1/2)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sales trends across months, years, categories, and states.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82296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24912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and categories contributing significantly to sales.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667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66744"/>
            <a:ext cx="82296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66744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distribution, revenue contribution, and order frequency.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08576"/>
            <a:ext cx="82296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08576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Performance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 volume and order-status patterns.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5040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550408"/>
            <a:ext cx="82296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550408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popular payment methods and payment revenue contribution.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 (2/2)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Analysis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return patterns and major return reasons.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24912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Analysis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delivery partner distribution across states.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667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666744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66744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warehouse capacity and stock distribution.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608576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08576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Analysis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states contributing significantly to customers, orders, and revenue.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55040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550408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550408"/>
            <a:ext cx="10588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   </a:t>
            </a: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dashboard for faster, data-driven decisions.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69164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Dataset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68396" y="192938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8" name="Shape 6"/>
          <p:cNvSpPr/>
          <p:nvPr/>
        </p:nvSpPr>
        <p:spPr>
          <a:xfrm>
            <a:off x="3378708" y="169164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51860" y="169164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Inspection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98464" y="192938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1" name="Shape 9"/>
          <p:cNvSpPr/>
          <p:nvPr/>
        </p:nvSpPr>
        <p:spPr>
          <a:xfrm>
            <a:off x="6208776" y="169164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81928" y="169164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Cleaning &amp; 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28532" y="192938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8844" y="169164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111996" y="169164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MySQL Database Creation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384280" y="2368296"/>
            <a:ext cx="182880" cy="164592"/>
          </a:xfrm>
          <a:prstGeom prst="downArrow">
            <a:avLst/>
          </a:prstGeom>
          <a:solidFill>
            <a:srgbClr val="B9C2C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65176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Table Creation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68396" y="288950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20" name="Shape 18"/>
          <p:cNvSpPr/>
          <p:nvPr/>
        </p:nvSpPr>
        <p:spPr>
          <a:xfrm>
            <a:off x="3378708" y="265176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51860" y="265176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SQL Data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98464" y="288950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08776" y="265176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265176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SQL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8532" y="288950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26" name="Shape 24"/>
          <p:cNvSpPr/>
          <p:nvPr/>
        </p:nvSpPr>
        <p:spPr>
          <a:xfrm>
            <a:off x="9038844" y="265176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111996" y="265176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Power BI Data Connection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384280" y="3328416"/>
            <a:ext cx="182880" cy="164592"/>
          </a:xfrm>
          <a:prstGeom prst="downArrow">
            <a:avLst/>
          </a:prstGeom>
          <a:solidFill>
            <a:srgbClr val="B9C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61188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61188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Power Query Transformation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68396" y="384962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32" name="Shape 30"/>
          <p:cNvSpPr/>
          <p:nvPr/>
        </p:nvSpPr>
        <p:spPr>
          <a:xfrm>
            <a:off x="3378708" y="361188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3451860" y="361188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Data Modelling &amp; Relationships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98464" y="384962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35" name="Shape 33"/>
          <p:cNvSpPr/>
          <p:nvPr/>
        </p:nvSpPr>
        <p:spPr>
          <a:xfrm>
            <a:off x="6208776" y="361188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281928" y="361188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DAX Measures &amp; KPIs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28532" y="384962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38" name="Shape 36"/>
          <p:cNvSpPr/>
          <p:nvPr/>
        </p:nvSpPr>
        <p:spPr>
          <a:xfrm>
            <a:off x="9038844" y="361188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5FB49C"/>
          </a:solidFill>
          <a:ln/>
        </p:spPr>
      </p:sp>
      <p:sp>
        <p:nvSpPr>
          <p:cNvPr id="39" name="Text 37"/>
          <p:cNvSpPr/>
          <p:nvPr/>
        </p:nvSpPr>
        <p:spPr>
          <a:xfrm>
            <a:off x="9111996" y="361188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Dashboard Development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1384280" y="4288536"/>
            <a:ext cx="182880" cy="164592"/>
          </a:xfrm>
          <a:prstGeom prst="downArrow">
            <a:avLst/>
          </a:prstGeom>
          <a:solidFill>
            <a:srgbClr val="B9C2CC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57200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5FB49C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" y="457200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Business Insights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68396" y="4809744"/>
            <a:ext cx="192024" cy="182880"/>
          </a:xfrm>
          <a:prstGeom prst="rightArrow">
            <a:avLst/>
          </a:prstGeom>
          <a:solidFill>
            <a:srgbClr val="B9C2CC"/>
          </a:solidFill>
          <a:ln/>
        </p:spPr>
      </p:sp>
      <p:sp>
        <p:nvSpPr>
          <p:cNvPr id="44" name="Shape 42"/>
          <p:cNvSpPr/>
          <p:nvPr/>
        </p:nvSpPr>
        <p:spPr>
          <a:xfrm>
            <a:off x="3378708" y="4572000"/>
            <a:ext cx="2601468" cy="658368"/>
          </a:xfrm>
          <a:prstGeom prst="roundRect">
            <a:avLst>
              <a:gd name="adj" fmla="val 11111"/>
            </a:avLst>
          </a:prstGeom>
          <a:solidFill>
            <a:srgbClr val="5FB49C"/>
          </a:solidFill>
          <a:ln/>
        </p:spPr>
      </p:sp>
      <p:sp>
        <p:nvSpPr>
          <p:cNvPr id="45" name="Text 43"/>
          <p:cNvSpPr/>
          <p:nvPr/>
        </p:nvSpPr>
        <p:spPr>
          <a:xfrm>
            <a:off x="3451860" y="4572000"/>
            <a:ext cx="24551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Recommendations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was used for project documentation and version control. The repository is organized as follows: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94944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6400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SHOPIFUL-Enterprise-Ecommerce-Intelligence/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Dataset/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SHOPIFUL_Ecommerce_Dataset.xlsx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SQL/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Database_Creation.sql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Table_Creation.sql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Data_Validation.sql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Analysis_Queries.sql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PowerBI/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SHOPIFUL_Enterprise_Analytics.pbix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Dashboard_Screenshots/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Executive_Overview.png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Customer_Intelligence.png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Product_Performance.png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Sales_Orders.png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Returns_Delivery.png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Payment_Revenue.png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Warehouse_Inventory.png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Documentation/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 Project_Report.pdf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260604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4F7F9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6060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created for educational, portfolio, and data analytics demonstration purposes.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80960" y="43891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43891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Sri M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Focus: Data Analytics | Business Intelligence | Sales Analytics | Customer Analytics | Product Analytics | Operations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6295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products and categories.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targeted strategies for high-revenue states.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retention by monitoring order frequency.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unsuccessful and returned orders to reduce operational losses.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payment options based on customer preferences.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77356" y="1783080"/>
            <a:ext cx="536295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delivery partner performance across states.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warehouse capacity utilization.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appropriate stock levels based on demand.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➤"/>
            </a:pPr>
            <a:r>
              <a:rPr lang="en-US" sz="13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Power BI dashboards as a recurring management reporting system.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568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78308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monitoring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68796" y="1783080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533388" y="19568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3388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0588" y="1783080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demand forecasting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79806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98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624328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68796" y="2624328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3388" y="279806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3388" y="2798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0588" y="2624328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 prediction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65576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363931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3465576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inventory-reorder recommendations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68796" y="3465576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3388" y="363931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533388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0588" y="3465576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customer segmentation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44805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480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0432" y="4306824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Power BI data refresh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68796" y="4306824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3388" y="448056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533388" y="4480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0588" y="4306824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return analysis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148072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232" y="532180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5321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70432" y="5148072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prediction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68796" y="5148072"/>
            <a:ext cx="5271516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3388" y="532180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533388" y="5321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90588" y="5148072"/>
            <a:ext cx="44942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business recommendations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SHOPIFUL — Enterprise E-Commerce Intelligence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Sri 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1786</Words>
  <Application>Microsoft Office PowerPoint</Application>
  <PresentationFormat>Widescreen</PresentationFormat>
  <Paragraphs>396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Sathya Mathavan</cp:lastModifiedBy>
  <cp:revision>2</cp:revision>
  <dcterms:created xsi:type="dcterms:W3CDTF">2026-08-25T06:50:06Z</dcterms:created>
  <dcterms:modified xsi:type="dcterms:W3CDTF">2026-08-25T16:25:47Z</dcterms:modified>
</cp:coreProperties>
</file>